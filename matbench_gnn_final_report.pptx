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14400"/>
            <a:ext cx="11155680" cy="11430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晶体带隙预测实验最终汇报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278A"/>
                </a:solidFill>
                <a:latin typeface="Microsoft YaHei"/>
              </a:rPr>
              <a:t>项目：基于晶体图神经网络的 band gap 预测</a:t>
            </a:r>
          </a:p>
          <a:p>
            <a:r>
              <a:rPr sz="2000" b="0">
                <a:solidFill>
                  <a:srgbClr val="1D278A"/>
                </a:solidFill>
                <a:latin typeface="Microsoft YaHei"/>
              </a:rPr>
              <a:t>数据集：鸿之微 crystal_band_100000</a:t>
            </a:r>
          </a:p>
          <a:p>
            <a:r>
              <a:rPr sz="2000" b="0">
                <a:solidFill>
                  <a:srgbClr val="1D278A"/>
                </a:solidFill>
                <a:latin typeface="Microsoft YaHei"/>
              </a:rPr>
              <a:t>日期：2026年4月17日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在鸿之微 crystal_band_100000 数据集上完成 6 组晶体 GNN 实验。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统一设定：单卡 RTX 3090、随机种子 42、所有实验强制训练 50 个 epoch。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任务是 band gap 回归预测，指标包括 MAE、RMSE、R²、Metal F1、训练时长和显存。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数据集与任务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清洗后有效样本数为 95,497，划分为 train 76,397 / val 9,549 / test 9,551。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主目标是 band_gap 回归，辅助字段包括 cbm、vbm、gap_type、formula、density。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E6 中进一步利用 CBM/VBM 构造辅助监督和物理一致性约束。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D278A"/>
                </a:solidFill>
                <a:latin typeface="Microsoft YaHei"/>
              </a:rPr>
              <a:t>E4、E5、E6 是分别独立建立在 ALIGNN 基线上的增强实验，不是逐层叠加。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02412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5669280"/>
                <a:gridCol w="109728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核心改动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E1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CGCNN Baseline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原子图卷积基线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E2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 Baseline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原子图 + line graph，建模键角信息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E3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M3GNet Baseline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三体几何建模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 + Virtual Node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在 ALIGNN 上加入全局虚拟节点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E5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 + Transformer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在 ALIGNN 后加入 2 层 4 头 Transformer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E6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 + Physics Constraint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在 ALIGNN 上加入多头输出与物理约束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最终结果总表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96012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834640"/>
                <a:gridCol w="1188720"/>
                <a:gridCol w="1188720"/>
                <a:gridCol w="1097280"/>
                <a:gridCol w="1463040"/>
                <a:gridCol w="109728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MAE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RMSE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R²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Metal F1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Best Epoch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E1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CGCNN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0.302169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0.530287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0.884731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0.806929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E2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0.231432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0.471325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0.908939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0.862117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E3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M3GNet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0.268041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0.553444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0.874444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0.871087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42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 + Virtual Node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0.220077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0.474616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0.907663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0.883811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E5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 + Transformer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0.237450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0.491768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0.900869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0.876873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46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E6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ALIGNN + Physics Constraint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0.221208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0.453924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0.915539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0.864048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结果解读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基线对比上，ALIGNN 明显优于 CGCNN 和 M3GNet，是当前最强基线。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按 MAE 排序：E4 &gt; E6 &gt; E2 &gt; E5 &gt; E3 &gt; E1。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按 RMSE 和 R² 排序：E6 最好，说明物理约束版整体回归更稳。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按 Metal F1 排序：E4 最好，说明 Virtual Node 对金属/非金属判别更有帮助。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E5 没有超过 E4，也没有超过 E2，说明当前 Transformer 设计收益不稳定。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增强实验与 ALIGNN 基线对比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E4 vs E2：MAE 从 0.2314 降到 0.2201，Metal F1 从 0.8621 提升到 0.8838，说明 Virtual Node 有效。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E5 vs E2：MAE 从 0.2314 上升到 0.2375，RMSE 也变差，说明当前 Transformer 版暂未带来收益。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E6 vs E2：MAE 从 0.2314 降到 0.2212，RMSE 从 0.4713 降到 0.4539，R² 从 0.9089 提升到 0.9155。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训练开销对比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0332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280160"/>
                <a:gridCol w="1554480"/>
                <a:gridCol w="164592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训练轮数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训练时长(h)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峰值显存(GB)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>
                    <a:solidFill>
                      <a:srgbClr val="313CB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E1 CGCNN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2.08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0.792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最轻量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E2 ALIGNN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5.74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12.329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最强基线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E3 M3GNet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3.16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3.147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E4 ALIGNN + Virtual Node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6.18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12.210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最优 MAE / F1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E5 ALIGNN + Transformer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6.83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9.691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收益不明显</a:t>
                      </a:r>
                    </a:p>
                  </a:txBody>
                  <a:tcPr anchor="ctr">
                    <a:solidFill>
                      <a:srgbClr val="E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E6 ALIGNN + Physics Constraint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5.81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12.548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1919"/>
                          </a:solidFill>
                          <a:latin typeface="Microsoft YaHei"/>
                        </a:rPr>
                        <a:t>最优 RMSE / R²</a:t>
                      </a:r>
                    </a:p>
                  </a:txBody>
                  <a:tcPr anchor="ctr">
                    <a:solidFill>
                      <a:srgbClr val="F0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E6 物理约束的含义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总损失由四部分组成：主任务带隙误差、CBM/VBM 辅助误差、band gap = CBM - VBM 的一致性约束、以及带隙非负惩罚。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通俗讲，E6 不只是让模型猜准 band gap，还要求它顺便学会 CBM 和 VBM，并且三个量之间要彼此对得上。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只有在 CBM 或 VBM 明确有效的样本上，才计算辅助损失和物理约束，避免零占位样本污染训练。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最终结论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最强基线是 ALIGNN。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最优 MAE 和 Metal F1 来自 E4：ALIGNN + Virtual Node。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最优 RMSE 和 R² 来自 E6：ALIGNN + Physics Constraint。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当前 Transformer 增强版 E5 没有优于 ALIGNN 基线，后续仍需继续调整。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本轮实验最关键的结论是：Virtual Node 和 Physics Constraint 都是有效增强方向。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下一步工作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继续针对 E5 调整位置编码、全局 token 组织方式和注意力层深度。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进一步分析 E4 和 E6 的误差分布，找出各自提升最明显的材料类型。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91919"/>
                </a:solidFill>
                <a:latin typeface="Microsoft YaHei"/>
              </a:rPr>
              <a:t>如果后续继续发论文或做正式答辩，可将 E4 和 E6 作为两个主要增强方向展开。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