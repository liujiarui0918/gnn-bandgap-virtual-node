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822960"/>
            <a:ext cx="11155680" cy="1234440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晶体带隙预测项目阶段性汇报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278A"/>
                </a:solidFill>
                <a:latin typeface="Microsoft YaHei"/>
              </a:rPr>
              <a:t>从模型增强到数据质量诊断：HZW 与 Materials Project 复现分析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1C2B"/>
                </a:solidFill>
                <a:latin typeface="Microsoft YaHei"/>
              </a:rPr>
              <a:t>任务：晶体 band gap 回归预测
模型：CGCNN / ALIGNN / M3GNet / Virtual Node / Attentive Dual Slot
日期：2026年5月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709160"/>
            <a:ext cx="10469880" cy="960120"/>
          </a:xfrm>
          <a:prstGeom prst="roundRect">
            <a:avLst/>
          </a:prstGeom>
          <a:solidFill>
            <a:srgbClr val="E1F6EB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4855464"/>
            <a:ext cx="10140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645"/>
                </a:solidFill>
                <a:latin typeface="Microsoft YaHei"/>
              </a:rPr>
              <a:t>汇报主线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5239512"/>
            <a:ext cx="101406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81C2B"/>
                </a:solidFill>
                <a:latin typeface="Microsoft YaHei"/>
              </a:rPr>
              <a:t>先汇报模型路线为什么成立，再说明为什么 MP 复现削弱，最后给出数据质量诊断和下一步最小可行方案。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1. 汇报主线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474720" cy="1554480"/>
          </a:xfrm>
          <a:prstGeom prst="roundRect">
            <a:avLst/>
          </a:prstGeom>
          <a:solidFill>
            <a:srgbClr val="E1F6EB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28930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645"/>
                </a:solidFill>
                <a:latin typeface="Microsoft YaHei"/>
              </a:rPr>
              <a:t>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673352"/>
            <a:ext cx="31455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1C2B"/>
                </a:solidFill>
                <a:latin typeface="Microsoft YaHei"/>
              </a:rPr>
              <a:t>局部晶体 GNN 是否缺少全局信息？虚拟节点和注意力机制能否改善 band gap 预测？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143000"/>
            <a:ext cx="3474720" cy="1554480"/>
          </a:xfrm>
          <a:prstGeom prst="roundRect">
            <a:avLst/>
          </a:prstGeom>
          <a:solidFill>
            <a:srgbClr val="E8EFFF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28930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278A"/>
                </a:solidFill>
                <a:latin typeface="Microsoft YaHei"/>
              </a:rPr>
              <a:t>实验路径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673352"/>
            <a:ext cx="31455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1C2B"/>
                </a:solidFill>
                <a:latin typeface="Microsoft YaHei"/>
              </a:rPr>
              <a:t>先在 HZW 数据集上做 E1-E13，再迁移到 MP 和 MP-HZW matched 数据。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291840" cy="1554480"/>
          </a:xfrm>
          <a:prstGeom prst="roundRect">
            <a:avLst/>
          </a:prstGeom>
          <a:solidFill>
            <a:srgbClr val="FFF1DA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289304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600E"/>
                </a:solidFill>
                <a:latin typeface="Microsoft YaHei"/>
              </a:rPr>
              <a:t>当前结论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1673352"/>
            <a:ext cx="296265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1C2B"/>
                </a:solidFill>
                <a:latin typeface="Microsoft YaHei"/>
              </a:rPr>
              <a:t>模型差异不能脱离标签源讨论；MP 与 HZW 标签冲突足以改变模型排序。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第一部分：任务背景、基线模型与增强假设。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第二部分：HZW 上 E4/E8/E12/E13 的有效结果。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第三部分：MP 复现后出现的规律失效。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第四部分：MP-HZW 标签冲突诊断与后续方案。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2. 任务背景：晶体 band gap 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输入是晶体结构：原子种类、坐标、晶格和邻接关系；输出是 band gap 数值。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CGCNN / ALIGNN / M3GNet 的共同核心是局部消息传递：从邻居原子、键长、键角等局部环境学习性质。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我们的出发点：band gap 虽然强依赖局部成键和元素化学，但晶胞尺度、长程结构和全局汇聚也可能影响预测。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因此项目主线是：在忠实复现基线后，逐步加入 virtual node、attention、dual slot 和物理约束。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3. 三个基线模型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70432"/>
            <a:ext cx="3566160" cy="4480560"/>
          </a:xfrm>
          <a:prstGeom prst="roundRect">
            <a:avLst/>
          </a:prstGeom>
          <a:solidFill>
            <a:srgbClr val="E8EFFF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31673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278A"/>
                </a:solidFill>
                <a:latin typeface="Microsoft YaHei"/>
              </a:rPr>
              <a:t>CGCNN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700784"/>
            <a:ext cx="3236976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81C2B"/>
                </a:solidFill>
                <a:latin typeface="Microsoft YaHei"/>
              </a:rPr>
              <a:t>把晶体表示成原子图，边特征主要来自邻居距离；优点是简单、可解释；不足是几何表达较弱。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170432"/>
            <a:ext cx="3566160" cy="4480560"/>
          </a:xfrm>
          <a:prstGeom prst="roundRect">
            <a:avLst/>
          </a:prstGeom>
          <a:solidFill>
            <a:srgbClr val="E1F6EB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31673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645"/>
                </a:solidFill>
                <a:latin typeface="Microsoft YaHei"/>
              </a:rPr>
              <a:t>ALIGNN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700784"/>
            <a:ext cx="3236976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81C2B"/>
                </a:solidFill>
                <a:latin typeface="Microsoft YaHei"/>
              </a:rPr>
              <a:t>在原子图之外引入 line graph，对键角和二阶几何关系建模；是本项目最强、最稳定的 baseline。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70432"/>
            <a:ext cx="3566160" cy="4480560"/>
          </a:xfrm>
          <a:prstGeom prst="roundRect">
            <a:avLst/>
          </a:prstGeom>
          <a:solidFill>
            <a:srgbClr val="E8EFFF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31673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278A"/>
                </a:solidFill>
                <a:latin typeface="Microsoft YaHei"/>
              </a:rPr>
              <a:t>M3GNet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700784"/>
            <a:ext cx="3236976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81C2B"/>
                </a:solidFill>
                <a:latin typeface="Microsoft YaHei"/>
              </a:rPr>
              <a:t>强调三体相互作用和材料图表示，适合通用势能和结构性质；在本任务中没有超过 ALIGNN。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4. 数据与阶段路线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842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3200400"/>
                <a:gridCol w="4251960"/>
              </a:tblGrid>
              <a:tr h="9875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数据范围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目的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关键结论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HZW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95,497 条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train/val/test 固定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先验证模型增强是否有效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E4 稳定提升，E12/E13 进一步超过 E4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MP full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154,875 条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MP bandgap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检验公开数据泛化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E4 重新最稳，E7/E8/E12 未超过 E4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MP-HZW matched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92,826 条匹配样本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一比一对齐 HZW 来源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发现 MP summary 与 HZW band gap 标签冲突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Clean matched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84,830 条类标签一致样本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排除金属/非金属冲突后重训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E4 仍最稳，E12/E1 待最终同步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5. 实验矩阵：E1-E13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01852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3886200"/>
                <a:gridCol w="3931920"/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模型/方案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核心作用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当前判断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E1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CGCNN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基础晶体图卷积 baseline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弱于 ALIGNN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ALIGNN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加入 line graph / 键角信息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最强 baseline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M3GNet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三体几何和通用材料图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本任务未超过 ALIGNN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ALIGNN + 朴素超节点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全局汇聚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最稳定增强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E5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ALIGNN + Transformer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全局注意力 only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整体负优化/弱收益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ALIGNN + 物理约束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CBM/VBM 辅助监督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HZW 有收益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1 个 attentive 超节点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单槽位注意力超节点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不稳定，HZW 负优化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2 个 attentive 超节点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双槽位 + slot attention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HZW 大结构有收益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E10/E11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E4/E8 路由融合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阈值或验证集路由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阈值泛化不稳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E12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size-supervised dual slot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size 只进 loss 监督 slot2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HZW 强，MP 弱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E13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E12 + physics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双槽位 + 物理约束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81C2B"/>
                          </a:solidFill>
                          <a:latin typeface="Microsoft YaHei"/>
                        </a:rPr>
                        <a:t>HZW 当前最好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6. HZW 阶段：模型增强确实有效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07442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1188720"/>
                <a:gridCol w="1188720"/>
                <a:gridCol w="1143000"/>
                <a:gridCol w="365760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MAE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RMSE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R²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E1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CGCNN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0.3022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0.5303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0.8847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基础 baseline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ALIGNN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0.2314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0.4713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0.9089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最强 baseline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ALIGNN + VN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0.2201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0.4746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0.9077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朴素超节点最稳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ALIGNN + physics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0.2212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0.4539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0.9155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RMSE / R² 更好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2-slot attentive VN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0.2285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0.4945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0.8997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整体一般，大结构有价值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E12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size-supervised dual slot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0.2179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0.4712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0.9090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超过 E4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E13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E12 + physics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0.2119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0.4616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0.9126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HZW 当前最优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06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645"/>
                </a:solidFill>
                <a:latin typeface="Microsoft YaHei"/>
              </a:rPr>
              <a:t>HZW 上的核心事实：E4 证明“全局汇聚”有效；E12/E13 证明“带监督的第二全局槽位 + 物理约束”还能继续提升。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7. HZW 分桶：为什么会想到双超节点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51560"/>
                <a:gridCol w="1143000"/>
                <a:gridCol w="1143000"/>
                <a:gridCol w="1143000"/>
                <a:gridCol w="457200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原子数桶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样本数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E7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E8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观察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&lt;=10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2661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0.1248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0.2226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0.1272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E4 最稳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11-20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2232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0.2022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0.2912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0.2060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E4 最稳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21-40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2534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0.2424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0.3552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0.2548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E4 最稳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41-80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1642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0.3193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0.4419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0.3422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E4 最稳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81-160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447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0.3796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0.5190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0.3736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E8 开始反超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&gt;160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35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0.2930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0.3462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0.2696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E8 最好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15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278A"/>
                </a:solidFill>
                <a:latin typeface="Microsoft YaHei"/>
              </a:rPr>
              <a:t>当时的合理推断：小中结构用一个朴素超节点足够，大结构可能需要两个全局槽位承载不同信息。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8. E12 / E13 的设计逻辑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566160" cy="4434840"/>
          </a:xfrm>
          <a:prstGeom prst="roundRect">
            <a:avLst/>
          </a:prstGeom>
          <a:solidFill>
            <a:srgbClr val="E1F6EB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893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645"/>
                </a:solidFill>
                <a:latin typeface="Microsoft YaHei"/>
              </a:rPr>
              <a:t>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673352"/>
            <a:ext cx="32369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1C2B"/>
                </a:solidFill>
                <a:latin typeface="Microsoft YaHei"/>
              </a:rPr>
              <a:t>以 ALIGNN 为骨架，保留 E4 的主超节点，再加入第二个 attentive global slot。slot2 不是直接硬开，而是由模型学习使用强度。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566160" cy="4434840"/>
          </a:xfrm>
          <a:prstGeom prst="roundRect">
            <a:avLst/>
          </a:prstGeom>
          <a:solidFill>
            <a:srgbClr val="E8EFFF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2893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278A"/>
                </a:solidFill>
                <a:latin typeface="Microsoft YaHei"/>
              </a:rPr>
              <a:t>E12 损失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673352"/>
            <a:ext cx="32369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81C2B"/>
                </a:solidFill>
                <a:latin typeface="Microsoft YaHei"/>
              </a:rPr>
              <a:t>size 不进入前向 gate；训练时用 num_atoms 构造软标签监督 slot2_gate：
Loss = MSE(gap) + λ BCE(gate, sigmoid((N-80)/18))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43000"/>
            <a:ext cx="3520440" cy="4434840"/>
          </a:xfrm>
          <a:prstGeom prst="roundRect">
            <a:avLst/>
          </a:prstGeom>
          <a:solidFill>
            <a:srgbClr val="FFF1DA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289304"/>
            <a:ext cx="3191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600E"/>
                </a:solidFill>
                <a:latin typeface="Microsoft YaHei"/>
              </a:rPr>
              <a:t>E13 物理约束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673352"/>
            <a:ext cx="319125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1C2B"/>
                </a:solidFill>
                <a:latin typeface="Microsoft YaHei"/>
              </a:rPr>
              <a:t>在 E12 基础上加入 CBM/VBM 辅助监督和 gap = CBM - VBM 一致性约束，并对无效 CBM/VBM 样本使用 mask。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9. MP full 复现：规律开始失效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90068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1234440"/>
                <a:gridCol w="1234440"/>
                <a:gridCol w="1234440"/>
                <a:gridCol w="1371600"/>
              </a:tblGrid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MAE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RMSE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R²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Best Epoch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E2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ALIGNN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0.2397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ALIGNN + VN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0.2302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0.5122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0.8854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1 attentive VN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0.2390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0.5273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0.8785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2 attentive VN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0.2418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0.5261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0.8791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43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E12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size-supervised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0.2363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0.5187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0.8825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C2B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81C2B"/>
                </a:solidFill>
                <a:latin typeface="Microsoft YaHei"/>
              </a:rPr>
              <a:t>MP full 上 E4 重新成为最优，E7/E8/E12 都没有超过 E4。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81C2B"/>
                </a:solidFill>
                <a:latin typeface="Microsoft YaHei"/>
              </a:rPr>
              <a:t>这说明 HZW 上的“size -&gt; 开第二槽位”假设不能直接迁移到 MP full。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81C2B"/>
                </a:solidFill>
                <a:latin typeface="Microsoft YaHei"/>
              </a:rPr>
              <a:t>但这还不能直接判定模型失败，因为目标标签来源已经发生变化。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10. 不是因为 MP 更小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91440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25880"/>
                <a:gridCol w="1234440"/>
                <a:gridCol w="1143000"/>
                <a:gridCol w="1325880"/>
                <a:gridCol w="1325880"/>
                <a:gridCol w="1143000"/>
              </a:tblGrid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数据集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样本数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median N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mean N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&gt;80 占比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&gt;160 占比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最大 N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HZW all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95,497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28.90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5.02%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0.35%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432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MP full all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154,875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31.39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7.76%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1.17%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444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HZW test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9,551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29.01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5.05%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0.37%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312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MP test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15,488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31.33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7.63%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1.16%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C2B"/>
                          </a:solidFill>
                          <a:latin typeface="Microsoft YaHei"/>
                        </a:rPr>
                        <a:t>392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80060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181C2B"/>
                </a:solidFill>
                <a:latin typeface="Microsoft YaHei"/>
              </a:rPr>
              <a:t>MP 并不是更小，反而大结构占比更高。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81C2B"/>
                </a:solidFill>
                <a:latin typeface="Microsoft YaHei"/>
              </a:rPr>
              <a:t>因此“MP 小结构太多，所以双槽位无效”这个解释不成立。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81C2B"/>
                </a:solidFill>
                <a:latin typeface="Microsoft YaHei"/>
              </a:rPr>
              <a:t>更关键的问题是：num_atoms 在 MP 标签下不是稳定的“需要第二全局槽位”的代理变量。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11. MP-HZW matched clean 当前结果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8915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54680"/>
                <a:gridCol w="1188720"/>
                <a:gridCol w="1188720"/>
                <a:gridCol w="1143000"/>
                <a:gridCol w="141732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MAE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RMSE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R²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Metal F1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E2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ALIGNN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0.2534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0.5019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0.8973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0.8600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E3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M3GNet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0.2966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0.5726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0.8663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0.8489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ALIGNN + VN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0.2446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0.5032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0.8968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0.8734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E5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0.2575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0.5179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0.8906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0.8670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1 attentive VN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0.2478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0.5089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0.8944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0.8734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2 attentive VN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0.2476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0.5111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0.8935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0.8757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E10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Val-routed E4/E8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0.2455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0.5044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0.8963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0.8730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600E"/>
                </a:solidFill>
                <a:latin typeface="Microsoft YaHei"/>
              </a:rPr>
              <a:t>截至本地同步结果：E4 仍是最稳模型；E1/E12 clean 补跑结果尚未进入本地最终汇总。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12. 硬阈值路由为什么不稳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9966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05840"/>
                <a:gridCol w="1051560"/>
                <a:gridCol w="1051560"/>
                <a:gridCol w="105156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原子数桶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样本数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E8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E10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&lt;=10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2525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0.1393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0.1378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0.1393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E8 略好但 E10 没用上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11-20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2086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0.2317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0.2276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0.2317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E8 略好但 E10 没用上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21-40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2300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0.2955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0.3008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0.2955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E4 更好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41-80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1603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0.3249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0.3359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0.3249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E4 更好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81-160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429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0.3364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0.3643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0.3620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阈值路由最吃亏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&gt;160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34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0.4598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0.3834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0.3834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E8 明显更好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15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278A"/>
                </a:solidFill>
                <a:latin typeface="Microsoft YaHei"/>
              </a:rPr>
              <a:t>验证集阈值 82 在 test 上不鲁棒；最优 test 阈值约 144，只保留极大结构给 E8。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13. 数据质量诊断：金属/非金属冲突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97280"/>
                <a:gridCol w="1051560"/>
                <a:gridCol w="2926080"/>
                <a:gridCol w="3657600"/>
              </a:tblGrid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冲突方向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比例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强冲突例子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 anchor="ctr">
                    <a:solidFill>
                      <a:srgbClr val="313CB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MP metal-like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HZW nonmetal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2,968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3.197%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HZW gap &gt;=1 eV: 1,130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&gt;=2 eV: 447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MP 认为近似金属，但 HZW 标签有明显带隙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MP nonmetal-like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HZW metal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5,028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5.595%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MP gap &gt;=1 eV: 561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&gt;=2 eV: 170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MP 有正带隙，但 HZW 标签是 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删除两类冲突后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84,830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train 67,865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val 8,481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test 8,484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C2B"/>
                          </a:solidFill>
                          <a:latin typeface="Microsoft YaHei"/>
                        </a:rPr>
                        <a:t>得到 class-consistent matched 数据</a:t>
                      </a:r>
                    </a:p>
                  </a:txBody>
                  <a:tcPr anchor="ctr">
                    <a:solidFill>
                      <a:srgbClr val="E8E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600E"/>
                </a:solidFill>
                <a:latin typeface="Microsoft YaHei"/>
              </a:rPr>
              <a:t>这不是简单的噪声点，而是足以影响 metal/nonmetal 边界与回归损失的系统性标签冲突。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14. 数据质量诊断：同类样本仍有大数值差异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200400" cy="4389120"/>
          </a:xfrm>
          <a:prstGeom prst="roundRect">
            <a:avLst/>
          </a:prstGeom>
          <a:solidFill>
            <a:srgbClr val="FFF1DA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289304"/>
            <a:ext cx="2871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600E"/>
                </a:solidFill>
                <a:latin typeface="Microsoft YaHei"/>
              </a:rPr>
              <a:t>数量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673352"/>
            <a:ext cx="2871216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1C2B"/>
                </a:solidFill>
                <a:latin typeface="Microsoft YaHei"/>
              </a:rPr>
              <a:t>删除金属/非金属冲突后，仍有 1,317 个 same-class 样本满足 |MP gap - HZW gap| &gt; 1 eV。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143000"/>
            <a:ext cx="3200400" cy="4389120"/>
          </a:xfrm>
          <a:prstGeom prst="roundRect">
            <a:avLst/>
          </a:prstGeom>
          <a:solidFill>
            <a:srgbClr val="E8EFFF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1289304"/>
            <a:ext cx="2871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278A"/>
                </a:solidFill>
                <a:latin typeface="Microsoft YaHei"/>
              </a:rPr>
              <a:t>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1673352"/>
            <a:ext cx="2871216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1C2B"/>
                </a:solidFill>
                <a:latin typeface="Microsoft YaHei"/>
              </a:rPr>
              <a:t>这些样本全部属于非金属类；其中 21-40 原子桶最多，为 487 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143000"/>
            <a:ext cx="3200400" cy="4389120"/>
          </a:xfrm>
          <a:prstGeom prst="roundRect">
            <a:avLst/>
          </a:prstGeom>
          <a:solidFill>
            <a:srgbClr val="E1F6EB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1289304"/>
            <a:ext cx="2871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645"/>
                </a:solidFill>
                <a:latin typeface="Microsoft YaHei"/>
              </a:rPr>
              <a:t>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1673352"/>
            <a:ext cx="2871216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1C2B"/>
                </a:solidFill>
                <a:latin typeface="Microsoft YaHei"/>
              </a:rPr>
              <a:t>即使金属/非金属类别一致，两个标签源在 gap 数值上也存在不可忽略偏差。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15. 当前最可信解释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HZW 上的 E12/E13 有效，说明 dual-slot + size supervision + physics 的模型假设不是凭空无效。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MP full 和 MP-HZW matched 上 E4 更稳，说明该假设对标签源和数据分布敏感。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MP-HZW matched 不是“同一批结构、同一套标签”的纯复现实验；训练脚本使用的是 MP summary band_gap，而不是 HZW 原始 gap。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金属/非金属冲突和 &gt;1 eV 数值差异会直接改变模型排序，因此当前负结果不能简单解释为模型结构失败。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16. 下一步最小可行方案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566160" cy="4480560"/>
          </a:xfrm>
          <a:prstGeom prst="roundRect">
            <a:avLst/>
          </a:prstGeom>
          <a:solidFill>
            <a:srgbClr val="E1F6EB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2893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645"/>
                </a:solidFill>
                <a:latin typeface="Microsoft YaHei"/>
              </a:rPr>
              <a:t>数据先收敛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673352"/>
            <a:ext cx="3236976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1C2B"/>
                </a:solidFill>
                <a:latin typeface="Microsoft YaHei"/>
              </a:rPr>
              <a:t>固定一个标签源：要么用 HZW gap，要么用 MP summary gap。不要在结论里把二者混为同一个监督目标。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143000"/>
            <a:ext cx="3566160" cy="4480560"/>
          </a:xfrm>
          <a:prstGeom prst="roundRect">
            <a:avLst/>
          </a:prstGeom>
          <a:solidFill>
            <a:srgbClr val="E8EFFF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2893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278A"/>
                </a:solidFill>
                <a:latin typeface="Microsoft YaHei"/>
              </a:rPr>
              <a:t>实验先最小化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673352"/>
            <a:ext cx="3236976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1C2B"/>
                </a:solidFill>
                <a:latin typeface="Microsoft YaHei"/>
              </a:rPr>
              <a:t>在 clean matched 上先跑 E2 / E4 / E8 / E12 四个核心实验。先判断 dual-slot 是否仍有可重复收益。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43000"/>
            <a:ext cx="3566160" cy="4480560"/>
          </a:xfrm>
          <a:prstGeom prst="roundRect">
            <a:avLst/>
          </a:prstGeom>
          <a:solidFill>
            <a:srgbClr val="FFF1DA"/>
          </a:solidFill>
          <a:ln>
            <a:solidFill>
              <a:srgbClr val="BF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289304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B600E"/>
                </a:solidFill>
                <a:latin typeface="Microsoft YaHei"/>
              </a:rPr>
              <a:t>任务再扩展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673352"/>
            <a:ext cx="3236976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1C2B"/>
                </a:solidFill>
                <a:latin typeface="Microsoft YaHei"/>
              </a:rPr>
              <a:t>band gap 的全局信息收益有限。若继续做全局建模，应考虑 dielectric / piezoelectric / phonon / elastic 等更全局敏感任务。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17.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完成了 CGCNN、ALIGNN、M3GNet 三类基线及多种 ALIGNN 增强模型的实验闭环。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HZW 数据上：E4 证明朴素全局超节点有效，E12/E13 进一步取得最优结果。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MP 数据上：复杂注意力超节点没有稳定超过 E4，说明原假设不能直接泛化。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数据诊断显示：MP 与 HZW 标签存在明显冲突，这是当前模型结论不一致的关键混杂因素。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81C2B"/>
                </a:solidFill>
                <a:latin typeface="Microsoft YaHei"/>
              </a:rPr>
              <a:t>后续应先建立同源、干净、可复现的数据基准，再讨论模型结构是否真的优于 E4。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313CB1"/>
          </a:solidFill>
          <a:ln>
            <a:solidFill>
              <a:srgbClr val="313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2014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181C2B"/>
                </a:solidFill>
                <a:latin typeface="Microsoft YaHei"/>
              </a:rPr>
              <a:t>[1] Tian Xie and Jeffrey C. Grossman. Crystal Graph Convolutional Neural Networks for an Accurate and Interpretable Prediction of Material Properties. Physical Review Letters, 120(14):145301, 2018.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181C2B"/>
                </a:solidFill>
                <a:latin typeface="Microsoft YaHei"/>
              </a:rPr>
              <a:t>[2] Kamal Choudhary and Brian DeCost. Atomistic Line Graph Neural Network for improved materials property predictions. npj Computational Materials, 7:185, 2021.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181C2B"/>
                </a:solidFill>
                <a:latin typeface="Microsoft YaHei"/>
              </a:rPr>
              <a:t>[3] Chi Chen and Shyue Ping Ong. A universal graph deep learning interatomic potential for the periodic table. Nature Computational Science, 2:718-728, 2022.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181C2B"/>
                </a:solidFill>
                <a:latin typeface="Microsoft YaHei"/>
              </a:rPr>
              <a:t>[4] Anubhav Jain et al. Commentary: The Materials Project: A materials genome approach to accelerating materials innovation. APL Materials, 1:011002, 2013.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181C2B"/>
                </a:solidFill>
                <a:latin typeface="Microsoft YaHei"/>
              </a:rPr>
              <a:t>[5] Alexander Dunn et al. Benchmarking materials property prediction methods: the Matbench test set and Automatminer reference algorithm. npj Computational Materials, 6:138,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